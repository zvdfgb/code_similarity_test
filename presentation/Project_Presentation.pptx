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418" autoAdjust="0"/>
  </p:normalViewPr>
  <p:slideViewPr>
    <p:cSldViewPr snapToGrid="0" snapToObjects="1">
      <p:cViewPr varScale="1">
        <p:scale>
          <a:sx n="94" d="100"/>
          <a:sy n="94" d="100"/>
        </p:scale>
        <p:origin x="15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323232"/>
                </a:solidFill>
                <a:latin typeface="Microsoft YaHei"/>
              </a:defRPr>
            </a:pPr>
            <a:r>
              <a:rPr sz="3600" b="1">
                <a:solidFill>
                  <a:srgbClr val="323232"/>
                </a:solidFill>
                <a:latin typeface="Microsoft YaHei"/>
              </a:rPr>
              <a:t>C语言代码</a:t>
            </a:r>
            <a:br/>
            <a:r>
              <a:rPr sz="3600" b="1">
                <a:solidFill>
                  <a:srgbClr val="323232"/>
                </a:solidFill>
                <a:latin typeface="Microsoft YaHei"/>
              </a:rPr>
              <a:t>相似度检测系统</a:t>
            </a:r>
          </a:p>
          <a:p>
            <a:pPr>
              <a:spcBef>
                <a:spcPts val="1200"/>
              </a:spcBef>
              <a:defRPr sz="1800" b="0">
                <a:solidFill>
                  <a:srgbClr val="646464"/>
                </a:solidFill>
                <a:latin typeface="Microsoft YaHei"/>
              </a:defRPr>
            </a:pPr>
            <a:r>
              <a:rPr sz="1800" b="0">
                <a:solidFill>
                  <a:srgbClr val="646464"/>
                </a:solidFill>
                <a:latin typeface="Microsoft YaHei"/>
              </a:rPr>
              <a:t>基于向量空间模型的查重算法实现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486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787878"/>
                </a:solidFill>
                <a:latin typeface="Microsoft YaHei"/>
              </a:defRPr>
            </a:pPr>
            <a:r>
              <a:rPr sz="1400" b="0">
                <a:solidFill>
                  <a:srgbClr val="787878"/>
                </a:solidFill>
                <a:latin typeface="Microsoft YaHei"/>
              </a:rPr>
              <a:t>2025年12月19日 | 课程设计答辩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项目背景与意义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当前痛点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05050"/>
                </a:solidFill>
                <a:latin typeface="Microsoft YaHei"/>
              </a:defRPr>
            </a:pPr>
            <a:r>
              <a:rPr sz="1400" b="0">
                <a:solidFill>
                  <a:srgbClr val="505050"/>
                </a:solidFill>
                <a:latin typeface="Microsoft YaHei"/>
              </a:rPr>
              <a:t>高校作业抄袭、工程代码重复利用率低，传统的人工比对费时费力。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3716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现有挑战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05050"/>
                </a:solidFill>
                <a:latin typeface="Microsoft YaHei"/>
              </a:defRPr>
            </a:pPr>
            <a:r>
              <a:rPr sz="1400" b="0">
                <a:solidFill>
                  <a:srgbClr val="505050"/>
                </a:solidFill>
                <a:latin typeface="Microsoft YaHei"/>
              </a:rPr>
              <a:t>简单的文本比对（Diff工具）无法处理格式化、重命名变量、调整函数顺序等修改手段。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3716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05050"/>
                </a:solidFill>
                <a:latin typeface="Microsoft YaHei"/>
              </a:defRPr>
            </a:pPr>
            <a:r>
              <a:rPr sz="1400" b="0">
                <a:solidFill>
                  <a:srgbClr val="505050"/>
                </a:solidFill>
                <a:latin typeface="Microsoft YaHei"/>
              </a:rPr>
              <a:t>实现一个自动化、高鲁棒性的检测工具，关注代码的“逻辑骨架”而非“文本皮囊”。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系统整体架构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2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50623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sz="1600" b="1">
                <a:solidFill>
                  <a:srgbClr val="003366"/>
                </a:solidFill>
                <a:latin typeface="Microsoft YaHei"/>
              </a:rPr>
              <a:t>流程解析</a:t>
            </a: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源代码输入</a:t>
            </a: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噪声清洗</a:t>
            </a: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特征提取</a:t>
            </a: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空间映射</a:t>
            </a: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距离计算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关键技术一：预处理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rPr sz="1600" b="0">
                <a:solidFill>
                  <a:srgbClr val="323232"/>
                </a:solidFill>
                <a:latin typeface="Microsoft YaHei"/>
              </a:rPr>
              <a:t>目的：消除代码风格差异，还原代码最纯粹的逻辑形态。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47472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Consolas"/>
              </a:defRPr>
            </a:pPr>
            <a:r>
              <a:rPr sz="1200" b="0">
                <a:solidFill>
                  <a:srgbClr val="000000"/>
                </a:solidFill>
                <a:latin typeface="Consolas"/>
              </a:rPr>
              <a:t>// Calculate sum</a:t>
            </a:r>
            <a:br/>
            <a:r>
              <a:rPr sz="1200" b="0">
                <a:solidFill>
                  <a:srgbClr val="000000"/>
                </a:solidFill>
                <a:latin typeface="Consolas"/>
              </a:rPr>
              <a:t>int main() {</a:t>
            </a:r>
            <a:br/>
            <a:r>
              <a:rPr sz="1200" b="0">
                <a:solidFill>
                  <a:srgbClr val="000000"/>
                </a:solidFill>
                <a:latin typeface="Consolas"/>
              </a:rPr>
              <a:t>  int a = 10; /* Init */</a:t>
            </a:r>
            <a:br/>
            <a:r>
              <a:rPr sz="1200" b="0">
                <a:solidFill>
                  <a:srgbClr val="000000"/>
                </a:solidFill>
                <a:latin typeface="Consolas"/>
              </a:rPr>
              <a:t>  return a + 5;</a:t>
            </a:r>
            <a:br/>
            <a:r>
              <a:rPr sz="12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20" y="3200400"/>
            <a:ext cx="548640" cy="36576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3474720" cy="2743200"/>
          </a:xfrm>
          <a:prstGeom prst="rect">
            <a:avLst/>
          </a:prstGeom>
          <a:solidFill>
            <a:srgbClr val="E1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Consolas"/>
              </a:defRPr>
            </a:pPr>
            <a:r>
              <a:rPr sz="1200" b="0">
                <a:solidFill>
                  <a:srgbClr val="000000"/>
                </a:solidFill>
                <a:latin typeface="Consolas"/>
              </a:rPr>
              <a:t>int main ( ) { int a = ; return a + 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  <a:latin typeface="Microsoft YaHei"/>
              </a:defRPr>
            </a:pPr>
            <a:r>
              <a:rPr sz="1400" b="1">
                <a:solidFill>
                  <a:srgbClr val="505050"/>
                </a:solidFill>
                <a:latin typeface="Microsoft YaHei"/>
              </a:rPr>
              <a:t>处理动作：</a:t>
            </a:r>
            <a:br/>
            <a:r>
              <a:rPr sz="1400" b="1">
                <a:solidFill>
                  <a:srgbClr val="505050"/>
                </a:solidFill>
                <a:latin typeface="Microsoft YaHei"/>
              </a:rPr>
              <a:t>1. 移除所有注释</a:t>
            </a:r>
            <a:br/>
            <a:r>
              <a:rPr sz="1400" b="1">
                <a:solidFill>
                  <a:srgbClr val="505050"/>
                </a:solidFill>
                <a:latin typeface="Microsoft YaHei"/>
              </a:rPr>
              <a:t>2. 压缩空白字符</a:t>
            </a:r>
            <a:br/>
            <a:r>
              <a:rPr sz="1400" b="1">
                <a:solidFill>
                  <a:srgbClr val="505050"/>
                </a:solidFill>
                <a:latin typeface="Microsoft YaHei"/>
              </a:rPr>
              <a:t>3. 移除字符串/数字常量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关键技术二：特征向量化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rPr sz="1600" b="0">
                <a:solidFill>
                  <a:srgbClr val="323232"/>
                </a:solidFill>
                <a:latin typeface="Microsoft YaHei"/>
              </a:rPr>
              <a:t>策略：采用词袋模型 (Bag of Words)，忽略变量名，关注保留字与运算符。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7772400" cy="1371600"/>
          </a:xfrm>
          <a:prstGeom prst="rect">
            <a:avLst/>
          </a:prstGeom>
          <a:solidFill>
            <a:srgbClr val="FFFAF0"/>
          </a:solidFill>
          <a:ln>
            <a:solidFill>
              <a:srgbClr val="C8966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1">
                <a:solidFill>
                  <a:srgbClr val="C86400"/>
                </a:solidFill>
                <a:latin typeface="Microsoft YaHei"/>
              </a:defRPr>
            </a:pPr>
            <a:r>
              <a:rPr sz="1400" b="1">
                <a:solidFill>
                  <a:srgbClr val="C86400"/>
                </a:solidFill>
                <a:latin typeface="Microsoft YaHei"/>
              </a:rPr>
              <a:t>特征向量维度 (35维):</a:t>
            </a:r>
          </a:p>
          <a:p>
            <a:pPr>
              <a:defRPr sz="1200" b="0">
                <a:solidFill>
                  <a:srgbClr val="000000"/>
                </a:solidFill>
                <a:latin typeface="Consolas"/>
              </a:defRPr>
            </a:pPr>
            <a:r>
              <a:rPr sz="1200" b="0">
                <a:solidFill>
                  <a:srgbClr val="000000"/>
                </a:solidFill>
                <a:latin typeface="Consolas"/>
              </a:rPr>
              <a:t>[int, char, if, else, while, for, return, +, -, *, /, ==, !=, &amp;&amp;, ||, ...]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sz="1600" b="1">
                <a:solidFill>
                  <a:srgbClr val="003366"/>
                </a:solidFill>
                <a:latin typeface="Microsoft YaHei"/>
              </a:rPr>
              <a:t>💡 创新点：为什么要忽略用户自定义变量？</a:t>
            </a:r>
          </a:p>
          <a:p>
            <a:pPr>
              <a:spcBef>
                <a:spcPts val="10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原因：如果两个程序逻辑不同（如冒泡排序 vs 快速排序），但定义了相同数量的变量（i, j, temp），会造成虚假的高相似度。</a:t>
            </a:r>
          </a:p>
          <a:p>
            <a:pPr>
              <a:spcBef>
                <a:spcPts val="6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效果：忽略变量名后，算法更聚焦于 if/while/for 等控制流结构，准确率显著提升。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核心算法：余弦相似度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Similarity = (A · B) / (||A|| × ||B||)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sz="1600" b="1">
                <a:solidFill>
                  <a:srgbClr val="003366"/>
                </a:solidFill>
                <a:latin typeface="Microsoft YaHei"/>
              </a:rPr>
              <a:t>几何意义：</a:t>
            </a:r>
          </a:p>
          <a:p>
            <a:pPr>
              <a:spcBef>
                <a:spcPts val="10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将代码映射为多维空间中的向量，计算两个向量之间的夹角余弦值。</a:t>
            </a:r>
          </a:p>
          <a:p>
            <a:pPr>
              <a:spcBef>
                <a:spcPts val="5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夹角为0度 -&gt; 余弦值为1 -&gt; 完全相似</a:t>
            </a:r>
          </a:p>
          <a:p>
            <a:pPr>
              <a:spcBef>
                <a:spcPts val="5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夹角为90度 -&gt; 余弦值为0 -&gt; 完全不相关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实验设计与验证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rPr sz="1600" b="0">
                <a:solidFill>
                  <a:srgbClr val="323232"/>
                </a:solidFill>
                <a:latin typeface="Microsoft YaHei"/>
              </a:rPr>
              <a:t>为了验证鲁棒性，设计了三组对照实验：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7772400" cy="11887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rPr sz="1400" b="1">
                <a:solidFill>
                  <a:srgbClr val="003366"/>
                </a:solidFill>
                <a:latin typeface="Microsoft YaHei"/>
              </a:rPr>
              <a:t>Group 1: 仅修改注释</a:t>
            </a:r>
          </a:p>
          <a:p>
            <a:pPr>
              <a:defRPr sz="1200" b="0">
                <a:solidFill>
                  <a:srgbClr val="505050"/>
                </a:solidFill>
                <a:latin typeface="Microsoft YaHei"/>
              </a:defRPr>
            </a:pPr>
            <a:r>
              <a:rPr sz="1200" b="0">
                <a:solidFill>
                  <a:srgbClr val="505050"/>
                </a:solidFill>
                <a:latin typeface="Microsoft YaHei"/>
              </a:rPr>
              <a:t>逻辑完全一致，仅将英文注释改为中文，或删除注释。</a:t>
            </a:r>
          </a:p>
          <a:p>
            <a:pPr>
              <a:spcBef>
                <a:spcPts val="300"/>
              </a:spcBef>
              <a:defRPr sz="1200" b="1">
                <a:solidFill>
                  <a:srgbClr val="C86400"/>
                </a:solidFill>
                <a:latin typeface="Microsoft YaHei"/>
              </a:defRPr>
            </a:pPr>
            <a:r>
              <a:rPr sz="1200" b="1">
                <a:solidFill>
                  <a:srgbClr val="C86400"/>
                </a:solidFill>
                <a:latin typeface="Microsoft YaHei"/>
              </a:rPr>
              <a:t>目标结果: 预期：100%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7772400" cy="11887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rPr sz="1400" b="1">
                <a:solidFill>
                  <a:srgbClr val="003366"/>
                </a:solidFill>
                <a:latin typeface="Microsoft YaHei"/>
              </a:rPr>
              <a:t>Group 2: 函数乱序</a:t>
            </a:r>
          </a:p>
          <a:p>
            <a:pPr>
              <a:defRPr sz="1200" b="0">
                <a:solidFill>
                  <a:srgbClr val="505050"/>
                </a:solidFill>
                <a:latin typeface="Microsoft YaHei"/>
              </a:defRPr>
            </a:pPr>
            <a:r>
              <a:rPr sz="1200" b="0">
                <a:solidFill>
                  <a:srgbClr val="505050"/>
                </a:solidFill>
                <a:latin typeface="Microsoft YaHei"/>
              </a:rPr>
              <a:t>保持所有函数内容不变，仅打乱函数在文件中的定义顺序。</a:t>
            </a:r>
          </a:p>
          <a:p>
            <a:pPr>
              <a:spcBef>
                <a:spcPts val="300"/>
              </a:spcBef>
              <a:defRPr sz="1200" b="1">
                <a:solidFill>
                  <a:srgbClr val="C86400"/>
                </a:solidFill>
                <a:latin typeface="Microsoft YaHei"/>
              </a:defRPr>
            </a:pPr>
            <a:r>
              <a:rPr sz="1200" b="1">
                <a:solidFill>
                  <a:srgbClr val="C86400"/>
                </a:solidFill>
                <a:latin typeface="Microsoft YaHei"/>
              </a:rPr>
              <a:t>目标结果: 预期：100%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7772400" cy="11887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rPr sz="1400" b="1">
                <a:solidFill>
                  <a:srgbClr val="003366"/>
                </a:solidFill>
                <a:latin typeface="Microsoft YaHei"/>
              </a:rPr>
              <a:t>Group 3: 不同算法</a:t>
            </a:r>
          </a:p>
          <a:p>
            <a:pPr>
              <a:defRPr sz="1200" b="0">
                <a:solidFill>
                  <a:srgbClr val="505050"/>
                </a:solidFill>
                <a:latin typeface="Microsoft YaHei"/>
              </a:defRPr>
            </a:pPr>
            <a:r>
              <a:rPr sz="1200" b="0">
                <a:solidFill>
                  <a:srgbClr val="505050"/>
                </a:solidFill>
                <a:latin typeface="Microsoft YaHei"/>
              </a:rPr>
              <a:t>完全不同的任务（如：冒泡排序 vs 斐波那契数列）。</a:t>
            </a:r>
          </a:p>
          <a:p>
            <a:pPr>
              <a:spcBef>
                <a:spcPts val="300"/>
              </a:spcBef>
              <a:defRPr sz="1200" b="1">
                <a:solidFill>
                  <a:srgbClr val="C86400"/>
                </a:solidFill>
                <a:latin typeface="Microsoft YaHei"/>
              </a:defRPr>
            </a:pPr>
            <a:r>
              <a:rPr sz="1200" b="1">
                <a:solidFill>
                  <a:srgbClr val="C86400"/>
                </a:solidFill>
                <a:latin typeface="Microsoft YaHei"/>
              </a:rPr>
              <a:t>目标结果: 预期：&lt; 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实验结果分析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测试组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对比文件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相似度得分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判定结论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test1.c / test2.c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极高相似 (抄袭)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Group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test3.c / test4.c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极高相似 (抄袭)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Group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test5.c / test6.c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0.5824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低相似 (安全)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Microsoft YaHei"/>
              </a:defRPr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数据解读：</a:t>
            </a:r>
          </a:p>
          <a:p>
            <a:pPr>
              <a:spcBef>
                <a:spcPts val="800"/>
              </a:spcBef>
              <a:defRPr sz="1200" b="0">
                <a:solidFill>
                  <a:srgbClr val="3C3C3C"/>
                </a:solidFill>
                <a:latin typeface="Microsoft YaHei"/>
              </a:defRPr>
            </a:pPr>
            <a:r>
              <a:rPr sz="1200" b="0">
                <a:solidFill>
                  <a:srgbClr val="3C3C3C"/>
                </a:solidFill>
                <a:latin typeface="Microsoft YaHei"/>
              </a:rPr>
              <a:t>• Group 1 (1.0000): 系统成功过滤了所有注释，验证了预处理模块的有效性。</a:t>
            </a:r>
          </a:p>
          <a:p>
            <a:pPr>
              <a:spcBef>
                <a:spcPts val="800"/>
              </a:spcBef>
              <a:defRPr sz="1200" b="0">
                <a:solidFill>
                  <a:srgbClr val="3C3C3C"/>
                </a:solidFill>
                <a:latin typeface="Microsoft YaHei"/>
              </a:defRPr>
            </a:pPr>
            <a:r>
              <a:rPr sz="1200" b="0">
                <a:solidFill>
                  <a:srgbClr val="3C3C3C"/>
                </a:solidFill>
                <a:latin typeface="Microsoft YaHei"/>
              </a:rPr>
              <a:t>• Group 2 (1.0000): 词袋模型忽略了代码顺序，因此简单的函数重排无法欺骗检测系统。</a:t>
            </a:r>
          </a:p>
          <a:p>
            <a:pPr>
              <a:spcBef>
                <a:spcPts val="800"/>
              </a:spcBef>
              <a:defRPr sz="1200" b="0">
                <a:solidFill>
                  <a:srgbClr val="3C3C3C"/>
                </a:solidFill>
                <a:latin typeface="Microsoft YaHei"/>
              </a:defRPr>
            </a:pPr>
            <a:r>
              <a:rPr sz="1200" b="0">
                <a:solidFill>
                  <a:srgbClr val="3C3C3C"/>
                </a:solidFill>
                <a:latin typeface="Microsoft YaHei"/>
              </a:rPr>
              <a:t>• Group 3 (0.5824): 对于完全不同的算法，即使共享基础关键字，得分依然显著偏低，区分度良好。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工程实现与演示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2286000"/>
          </a:xfrm>
          <a:prstGeom prst="rect">
            <a:avLst/>
          </a:prstGeom>
          <a:solidFill>
            <a:srgbClr val="F0F8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rPr sz="1400" b="1">
                <a:solidFill>
                  <a:srgbClr val="003366"/>
                </a:solidFill>
                <a:latin typeface="Microsoft YaHei"/>
              </a:rPr>
              <a:t>技术栈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• 开发语言: C (Standard C11)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• 编译工具: GCC / Makefile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• 内存管理: 手动 (malloc/free)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• 项目架构: 模块化 (头文件分离)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4297680" cy="228600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00FF00"/>
                </a:solidFill>
                <a:latin typeface="Consolas"/>
              </a:defRPr>
            </a:pPr>
            <a:r>
              <a:rPr sz="1200" b="1">
                <a:solidFill>
                  <a:srgbClr val="00FF00"/>
                </a:solidFill>
                <a:latin typeface="Consolas"/>
              </a:rPr>
              <a:t>&gt; ./code_checker test1.c test2.c</a:t>
            </a:r>
          </a:p>
          <a:p>
            <a:br/>
            <a:r>
              <a:rPr sz="1000" b="0">
                <a:solidFill>
                  <a:srgbClr val="C8C8C8"/>
                </a:solidFill>
                <a:latin typeface="Consolas"/>
              </a:rPr>
              <a:t>[INFO] Reading files...</a:t>
            </a:r>
            <a:br/>
            <a:r>
              <a:rPr sz="1000" b="0">
                <a:solidFill>
                  <a:srgbClr val="C8C8C8"/>
                </a:solidFill>
                <a:latin typeface="Consolas"/>
              </a:rPr>
              <a:t>[INFO] Preprocessing...</a:t>
            </a:r>
            <a:br/>
            <a:r>
              <a:rPr sz="1000" b="0">
                <a:solidFill>
                  <a:srgbClr val="C8C8C8"/>
                </a:solidFill>
                <a:latin typeface="Consolas"/>
              </a:rPr>
              <a:t>[INFO] Vectorizing...</a:t>
            </a:r>
            <a:br/>
            <a:r>
              <a:rPr sz="1000" b="0">
                <a:solidFill>
                  <a:srgbClr val="C8C8C8"/>
                </a:solidFill>
                <a:latin typeface="Consolas"/>
              </a:rPr>
              <a:t>------------------------------</a:t>
            </a:r>
            <a:br/>
            <a:r>
              <a:rPr sz="1000" b="0">
                <a:solidFill>
                  <a:srgbClr val="C8C8C8"/>
                </a:solidFill>
                <a:latin typeface="Consolas"/>
              </a:rPr>
              <a:t>[RESULT] Similarity: 1.0000</a:t>
            </a:r>
            <a:br/>
            <a:r>
              <a:rPr sz="1000" b="0">
                <a:solidFill>
                  <a:srgbClr val="C8C8C8"/>
                </a:solidFill>
                <a:latin typeface="Consolas"/>
              </a:rPr>
              <a:t>[CONCLUSION] High Resemblance.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rPr sz="2800" b="1">
                <a:solidFill>
                  <a:srgbClr val="003366"/>
                </a:solidFill>
                <a:latin typeface="Microsoft YaHei"/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C语言代码相似度检测系统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Microsoft YaHei"/>
              </a:defRPr>
            </a:pPr>
            <a:r>
              <a:rPr sz="1000" b="0">
                <a:solidFill>
                  <a:srgbClr val="969696"/>
                </a:solidFill>
                <a:latin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9047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rPr sz="1800" b="1" dirty="0" err="1">
                <a:solidFill>
                  <a:srgbClr val="003366"/>
                </a:solidFill>
                <a:latin typeface="Microsoft YaHei"/>
              </a:rPr>
              <a:t>项目总结</a:t>
            </a:r>
            <a:endParaRPr sz="1800" b="1" dirty="0">
              <a:solidFill>
                <a:srgbClr val="003366"/>
              </a:solidFill>
              <a:latin typeface="Microsoft YaHei"/>
            </a:endParaRP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 dirty="0" err="1">
                <a:solidFill>
                  <a:srgbClr val="3C3C3C"/>
                </a:solidFill>
                <a:latin typeface="Microsoft YaHei"/>
              </a:rPr>
              <a:t>本项目成功实现了一个基于特征向量的高效代码查重工具。相比传统文本比对，它更能抵抗格式化</a:t>
            </a:r>
            <a:endParaRPr lang="en-US" sz="1400" b="0" dirty="0">
              <a:solidFill>
                <a:srgbClr val="3C3C3C"/>
              </a:solidFill>
              <a:latin typeface="Microsoft YaHei"/>
            </a:endParaRPr>
          </a:p>
          <a:p>
            <a:pPr>
              <a:spcBef>
                <a:spcPts val="12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 dirty="0">
                <a:solidFill>
                  <a:srgbClr val="3C3C3C"/>
                </a:solidFill>
                <a:latin typeface="Microsoft YaHei"/>
              </a:rPr>
              <a:t>、</a:t>
            </a:r>
            <a:r>
              <a:rPr sz="1400" b="0" dirty="0" err="1">
                <a:solidFill>
                  <a:srgbClr val="3C3C3C"/>
                </a:solidFill>
                <a:latin typeface="Microsoft YaHei"/>
              </a:rPr>
              <a:t>注释修改等干扰手段，具有较高的鲁棒性和实用价值</a:t>
            </a:r>
            <a:r>
              <a:rPr sz="1400" b="0" dirty="0">
                <a:solidFill>
                  <a:srgbClr val="3C3C3C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6400"/>
                </a:solidFill>
                <a:latin typeface="Microsoft YaHei"/>
              </a:defRPr>
            </a:pPr>
            <a:r>
              <a:rPr sz="1800" b="1">
                <a:solidFill>
                  <a:srgbClr val="C86400"/>
                </a:solidFill>
                <a:latin typeface="Microsoft YaHei"/>
              </a:rPr>
              <a:t>未来改进方向</a:t>
            </a:r>
          </a:p>
          <a:p>
            <a:pPr>
              <a:spcBef>
                <a:spcPts val="10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引入 抽象语法树 (AST): 检测更复杂的逻辑修改（如 while 转 for）。</a:t>
            </a:r>
          </a:p>
          <a:p>
            <a:pPr>
              <a:spcBef>
                <a:spcPts val="10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变量依赖分析: 防止恶意的变量名整体替换。</a:t>
            </a:r>
          </a:p>
          <a:p>
            <a:pPr>
              <a:spcBef>
                <a:spcPts val="1000"/>
              </a:spcBef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rPr sz="1400" b="0">
                <a:solidFill>
                  <a:srgbClr val="3C3C3C"/>
                </a:solidFill>
                <a:latin typeface="Microsoft YaHei"/>
              </a:rPr>
              <a:t>• 多语言支持: 扩展对 Python, Java 等语言的解析支持。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Microsoft YaHei"/>
              </a:defRPr>
            </a:pPr>
            <a:r>
              <a:rPr sz="3200" b="1">
                <a:solidFill>
                  <a:srgbClr val="003366"/>
                </a:solidFill>
                <a:latin typeface="Microsoft YaHei"/>
              </a:rPr>
              <a:t>感谢聆听</a:t>
            </a:r>
            <a:br/>
            <a:r>
              <a:rPr sz="3200" b="1">
                <a:solidFill>
                  <a:srgbClr val="003366"/>
                </a:solidFill>
                <a:latin typeface="Microsoft YaHei"/>
              </a:rPr>
              <a:t>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531</Words>
  <Application>Microsoft Office PowerPoint</Application>
  <PresentationFormat>全屏显示(4:3)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子航 张</cp:lastModifiedBy>
  <cp:revision>3</cp:revision>
  <dcterms:created xsi:type="dcterms:W3CDTF">2013-01-27T09:14:16Z</dcterms:created>
  <dcterms:modified xsi:type="dcterms:W3CDTF">2025-12-21T13:01:26Z</dcterms:modified>
  <cp:category/>
</cp:coreProperties>
</file>